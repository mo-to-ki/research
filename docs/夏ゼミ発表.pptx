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61" r:id="rId3"/>
    <p:sldId id="266" r:id="rId4"/>
    <p:sldId id="265" r:id="rId5"/>
    <p:sldId id="275" r:id="rId6"/>
    <p:sldId id="276" r:id="rId7"/>
    <p:sldId id="277" r:id="rId8"/>
    <p:sldId id="269" r:id="rId9"/>
    <p:sldId id="267" r:id="rId10"/>
    <p:sldId id="262" r:id="rId11"/>
    <p:sldId id="270" r:id="rId12"/>
    <p:sldId id="274" r:id="rId13"/>
    <p:sldId id="271" r:id="rId14"/>
    <p:sldId id="272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44251"/>
    <p:restoredTop sz="86431"/>
  </p:normalViewPr>
  <p:slideViewPr>
    <p:cSldViewPr snapToGrid="0">
      <p:cViewPr varScale="1">
        <p:scale>
          <a:sx n="81" d="100"/>
          <a:sy n="81" d="100"/>
        </p:scale>
        <p:origin x="184" y="3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D6F77-8F8C-4845-A7E6-3AD8C195FB37}" type="datetimeFigureOut">
              <a:rPr kumimoji="1" lang="ja-JP" altLang="en-US" smtClean="0"/>
              <a:t>2024/7/2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3EE7C-6BE9-AF47-A02D-EA93943F4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9085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3EE7C-6BE9-AF47-A02D-EA93943F487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1146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3EE7C-6BE9-AF47-A02D-EA93943F487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669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3EE7C-6BE9-AF47-A02D-EA93943F487C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6830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3EE7C-6BE9-AF47-A02D-EA93943F487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1954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3EE7C-6BE9-AF47-A02D-EA93943F487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083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3EE7C-6BE9-AF47-A02D-EA93943F487C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7952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36286-07D4-D540-A93A-12489FFACEB0}" type="datetime1">
              <a:rPr lang="ja-JP" altLang="en-US" smtClean="0"/>
              <a:t>2024/7/2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Hiragino Kaku Gothic Std W8" panose="020B0800000000000000" pitchFamily="34" charset="-128"/>
                <a:ea typeface="Hiragino Kaku Gothic Std W8" panose="020B08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iragino Kaku Gothic Std W8" panose="020B0800000000000000" pitchFamily="34" charset="-128"/>
                <a:ea typeface="Hiragino Kaku Gothic Std W8" panose="020B0800000000000000" pitchFamily="34" charset="-128"/>
              </a:defRPr>
            </a:lvl1pPr>
            <a:lvl2pPr>
              <a:defRPr>
                <a:latin typeface="Hiragino Kaku Gothic Std W8" panose="020B0800000000000000" pitchFamily="34" charset="-128"/>
                <a:ea typeface="Hiragino Kaku Gothic Std W8" panose="020B0800000000000000" pitchFamily="34" charset="-128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B7790-B064-5B4B-AE6B-DFE9C395E718}" type="datetime1">
              <a:rPr lang="ja-JP" altLang="en-US" smtClean="0"/>
              <a:t>2024/7/2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0B0CB-B515-3D41-B2C9-7932B03E1DB9}" type="datetime1">
              <a:rPr lang="ja-JP" altLang="en-US" smtClean="0"/>
              <a:t>2024/7/2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4BDE2-293B-AE44-BF20-4E368B0B6343}" type="datetime1">
              <a:rPr lang="ja-JP" altLang="en-US" smtClean="0"/>
              <a:t>2024/7/2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6AEB9-E4B5-A543-8C0B-6920AAEFA136}" type="datetime1">
              <a:rPr lang="ja-JP" altLang="en-US" smtClean="0"/>
              <a:t>2024/7/2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E00FB-BE93-3540-BF33-3E582A24F886}" type="datetime1">
              <a:rPr lang="ja-JP" altLang="en-US" smtClean="0"/>
              <a:t>2024/7/2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5EF6-9BC1-1F45-ABA9-F753FCE82894}" type="datetime1">
              <a:rPr lang="ja-JP" altLang="en-US" smtClean="0"/>
              <a:t>2024/7/2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CC056-524B-5548-BB08-D60CC9638C15}" type="datetime1">
              <a:rPr lang="ja-JP" altLang="en-US" smtClean="0"/>
              <a:t>2024/7/2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C5E1-9D1E-8F4C-91C4-A39417A899BC}" type="datetime1">
              <a:rPr lang="ja-JP" altLang="en-US" smtClean="0"/>
              <a:t>2024/7/2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75DD-201C-CF48-A37C-5DB126F20E30}" type="datetime1">
              <a:rPr lang="ja-JP" altLang="en-US" smtClean="0"/>
              <a:t>2024/7/2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EB9D-79A7-B74E-A424-8BB7F045A09C}" type="datetime1">
              <a:rPr lang="ja-JP" altLang="en-US" smtClean="0"/>
              <a:t>2024/7/2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5C0601-9E43-CFF5-9213-15A61DF19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144" y="1122363"/>
            <a:ext cx="8351520" cy="2620582"/>
          </a:xfrm>
        </p:spPr>
        <p:txBody>
          <a:bodyPr>
            <a:normAutofit/>
          </a:bodyPr>
          <a:lstStyle/>
          <a:p>
            <a:r>
              <a:rPr lang="ja-JP" altLang="en-US" sz="4400">
                <a:effectLst/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シュバルツシルト時空における</a:t>
            </a:r>
            <a:br>
              <a:rPr lang="en-US" altLang="ja-JP" sz="4400" dirty="0">
                <a:effectLst/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</a:br>
            <a:r>
              <a:rPr lang="ja-JP" altLang="en-US" sz="4400">
                <a:effectLst/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光源の軌道予測 </a:t>
            </a:r>
            <a:endParaRPr kumimoji="1" lang="ja-JP" altLang="en-US" sz="440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F317453-2659-04C0-4374-F182FDA7C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169664"/>
            <a:ext cx="6858000" cy="963168"/>
          </a:xfrm>
        </p:spPr>
        <p:txBody>
          <a:bodyPr>
            <a:normAutofit/>
          </a:bodyPr>
          <a:lstStyle/>
          <a:p>
            <a:r>
              <a:rPr kumimoji="1" lang="en-US" altLang="ja-JP" dirty="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20041054</a:t>
            </a:r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　</a:t>
            </a:r>
            <a:r>
              <a:rPr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大豆生田幹</a:t>
            </a:r>
            <a:endParaRPr kumimoji="1" lang="ja-JP" altLang="en-US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A4F42E-7EF0-07BB-DCEF-21D32BC2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57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3549D-C0BB-FB83-4188-F1CA4300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9438"/>
          </a:xfrm>
        </p:spPr>
        <p:txBody>
          <a:bodyPr/>
          <a:lstStyle/>
          <a:p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1B691-85A7-B4C2-5EFB-79B01824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2382"/>
            <a:ext cx="7886700" cy="5100491"/>
          </a:xfrm>
        </p:spPr>
        <p:txBody>
          <a:bodyPr>
            <a:normAutofit/>
          </a:bodyPr>
          <a:lstStyle/>
          <a:p>
            <a:r>
              <a:rPr lang="ja-JP" altLang="en-US"/>
              <a:t>ニュートン力学を用いた</a:t>
            </a:r>
            <a:r>
              <a:rPr lang="en-US" altLang="ja-JP" dirty="0"/>
              <a:t>2</a:t>
            </a:r>
            <a:r>
              <a:rPr lang="ja-JP" altLang="en-US"/>
              <a:t>体問題</a:t>
            </a:r>
            <a:endParaRPr lang="en-US" altLang="ja-JP" dirty="0"/>
          </a:p>
          <a:p>
            <a:pPr lvl="1"/>
            <a:r>
              <a:rPr lang="ja-JP" altLang="en-US"/>
              <a:t>微分方程式の導出</a:t>
            </a:r>
            <a:endParaRPr lang="en-US" altLang="ja-JP" dirty="0"/>
          </a:p>
          <a:p>
            <a:pPr lvl="2"/>
            <a:r>
              <a:rPr lang="ja-JP" altLang="en-US"/>
              <a:t>考えたい状況</a:t>
            </a:r>
            <a:endParaRPr lang="en-US" altLang="ja-JP" dirty="0"/>
          </a:p>
          <a:p>
            <a:pPr lvl="2"/>
            <a:r>
              <a:rPr lang="ja-JP" altLang="en-US"/>
              <a:t>オイラーラグランジュ方程式</a:t>
            </a:r>
            <a:endParaRPr lang="en-US" altLang="ja-JP" dirty="0"/>
          </a:p>
          <a:p>
            <a:pPr lvl="2"/>
            <a:r>
              <a:rPr lang="ja-JP" altLang="en-US"/>
              <a:t>エネルギー保存則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一般相対論を用いた</a:t>
            </a:r>
            <a:r>
              <a:rPr lang="en-US" altLang="ja-JP" dirty="0"/>
              <a:t>2</a:t>
            </a:r>
            <a:r>
              <a:rPr lang="ja-JP" altLang="en-US"/>
              <a:t>体問題</a:t>
            </a:r>
            <a:endParaRPr lang="en-US" altLang="ja-JP" dirty="0"/>
          </a:p>
          <a:p>
            <a:pPr lvl="1"/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一般相対論のイメージ</a:t>
            </a:r>
            <a:endParaRPr kumimoji="1" lang="en-US" altLang="ja-JP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lvl="1"/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微分方程式の導出</a:t>
            </a:r>
            <a:endParaRPr kumimoji="1" lang="en-US" altLang="ja-JP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lvl="2"/>
            <a:r>
              <a:rPr lang="ja-JP" altLang="en-US"/>
              <a:t>測地線方程式について</a:t>
            </a:r>
            <a:endParaRPr kumimoji="1" lang="en-US" altLang="ja-JP" dirty="0"/>
          </a:p>
          <a:p>
            <a:pPr lvl="2"/>
            <a:r>
              <a:rPr lang="ja-JP" altLang="en-US"/>
              <a:t>微分方程式の導出</a:t>
            </a:r>
            <a:endParaRPr kumimoji="1" lang="en-US" altLang="ja-JP" dirty="0"/>
          </a:p>
          <a:p>
            <a:endParaRPr kumimoji="1" lang="en-US" altLang="ja-JP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r>
              <a:rPr lang="ja-JP" altLang="en-US"/>
              <a:t>解析</a:t>
            </a:r>
            <a:endParaRPr kumimoji="1" lang="en-US" altLang="ja-JP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lvl="1"/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微分方程式の比較</a:t>
            </a:r>
            <a:endParaRPr kumimoji="1" lang="en-US" altLang="ja-JP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lvl="2"/>
            <a:r>
              <a:rPr lang="ja-JP" altLang="en-US"/>
              <a:t>有効ポテンシャルを用いた比較</a:t>
            </a:r>
            <a:endParaRPr lang="en-US" altLang="ja-JP" dirty="0"/>
          </a:p>
          <a:p>
            <a:pPr lvl="1"/>
            <a:r>
              <a:rPr lang="ja-JP" altLang="en-US"/>
              <a:t>近日点移動</a:t>
            </a:r>
            <a:endParaRPr kumimoji="1" lang="en-US" altLang="ja-JP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lvl="1"/>
            <a:endParaRPr kumimoji="1" lang="en-US" altLang="ja-JP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lvl="1"/>
            <a:endParaRPr kumimoji="1" lang="ja-JP" altLang="en-US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DB021-2FD2-D67B-F9A5-C000EBE0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79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464A9F-DC19-9CAD-C3FE-B4957F30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ニュートン力学を用いた</a:t>
            </a:r>
            <a:br>
              <a:rPr kumimoji="1" lang="en-US" altLang="ja-JP" dirty="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</a:br>
            <a:r>
              <a:rPr kumimoji="1" lang="en-US" altLang="ja-JP" dirty="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2</a:t>
            </a:r>
            <a:r>
              <a:rPr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体</a:t>
            </a:r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問題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AAE497-2E95-EDBE-9C01-258962D48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6176D1-E40B-B146-37DA-D421B8D7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595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3549D-C0BB-FB83-4188-F1CA4300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9438"/>
          </a:xfrm>
        </p:spPr>
        <p:txBody>
          <a:bodyPr>
            <a:normAutofit/>
          </a:bodyPr>
          <a:lstStyle/>
          <a:p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考えたい状況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1B691-85A7-B4C2-5EFB-79B01824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2382"/>
            <a:ext cx="7886700" cy="5100491"/>
          </a:xfrm>
        </p:spPr>
        <p:txBody>
          <a:bodyPr/>
          <a:lstStyle/>
          <a:p>
            <a:pPr marL="0" indent="0">
              <a:buNone/>
            </a:pPr>
            <a:r>
              <a:rPr lang="ja-JP" altLang="en-US" sz="1800"/>
              <a:t>解析力学の復習だと思って、右図の</a:t>
            </a:r>
            <a:endParaRPr lang="en-US" altLang="ja-JP" sz="1800" dirty="0"/>
          </a:p>
          <a:p>
            <a:pPr marL="0" indent="0">
              <a:buNone/>
            </a:pPr>
            <a:r>
              <a:rPr lang="en-US" altLang="ja-JP" sz="1800" dirty="0"/>
              <a:t>2</a:t>
            </a:r>
            <a:r>
              <a:rPr lang="ja-JP" altLang="en-US" sz="1800"/>
              <a:t>体問題を考える。</a:t>
            </a:r>
            <a:endParaRPr lang="en-US" altLang="ja-JP" sz="1800" dirty="0"/>
          </a:p>
          <a:p>
            <a:pPr marL="0" indent="0">
              <a:buNone/>
            </a:pP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marL="0" indent="0">
              <a:buNone/>
            </a:pPr>
            <a:r>
              <a:rPr kumimoji="1" lang="ja-JP" altLang="en-US" sz="180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系自体の運動エネルギーは</a:t>
            </a: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marL="0" indent="0">
              <a:buNone/>
            </a:pPr>
            <a:endParaRPr lang="en-US" altLang="ja-JP" sz="1800" dirty="0"/>
          </a:p>
          <a:p>
            <a:pPr marL="0" indent="0">
              <a:buNone/>
            </a:pP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marL="0" indent="0">
              <a:buNone/>
            </a:pPr>
            <a:endParaRPr lang="en-US" altLang="ja-JP" sz="1800" dirty="0"/>
          </a:p>
          <a:p>
            <a:pPr marL="0" indent="0">
              <a:buNone/>
            </a:pPr>
            <a:r>
              <a:rPr lang="en-US" altLang="ja-JP" sz="1800" dirty="0"/>
              <a:t>m</a:t>
            </a:r>
            <a:r>
              <a:rPr kumimoji="1" lang="en-US" altLang="ja-JP" sz="1800" dirty="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1 m2 </a:t>
            </a:r>
            <a:r>
              <a:rPr kumimoji="1" lang="ja-JP" altLang="en-US" sz="180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それぞれの運動エネルギーは</a:t>
            </a:r>
            <a:r>
              <a:rPr kumimoji="1" lang="en-US" altLang="ja-JP" sz="1800" dirty="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 </a:t>
            </a:r>
          </a:p>
          <a:p>
            <a:pPr marL="0" indent="0">
              <a:buNone/>
            </a:pP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DB021-2FD2-D67B-F9A5-C000EBE0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FA68B4F-2883-7EBF-45FD-D2231F15B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00975"/>
            <a:ext cx="4329115" cy="4256050"/>
          </a:xfrm>
          <a:prstGeom prst="rect">
            <a:avLst/>
          </a:prstGeom>
        </p:spPr>
      </p:pic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898B089F-9F24-1AE4-4F77-6A731B5E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ニュートン力学を用いた</a:t>
            </a:r>
            <a:r>
              <a:rPr lang="en-US" altLang="ja-JP"/>
              <a:t>2</a:t>
            </a:r>
            <a:r>
              <a:rPr lang="ja-JP" altLang="en-US"/>
              <a:t>体問題</a:t>
            </a:r>
            <a:endParaRPr 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AE60740-C15C-08B8-BB15-07C079F76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146" y="2765531"/>
            <a:ext cx="2272205" cy="110883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454B0F83-073A-BCC3-B387-1314D29B4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41" y="4312641"/>
            <a:ext cx="2495213" cy="145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53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3549D-C0BB-FB83-4188-F1CA4300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9438"/>
          </a:xfrm>
        </p:spPr>
        <p:txBody>
          <a:bodyPr>
            <a:normAutofit/>
          </a:bodyPr>
          <a:lstStyle/>
          <a:p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考えたい状況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1B691-85A7-B4C2-5EFB-79B01824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2382"/>
            <a:ext cx="7886700" cy="5100491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180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前ページより、全体の運動エネルギーは</a:t>
            </a: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marL="0" indent="0">
              <a:buNone/>
            </a:pPr>
            <a:endParaRPr lang="en-US" altLang="ja-JP" sz="1800" dirty="0"/>
          </a:p>
          <a:p>
            <a:pPr marL="0" indent="0">
              <a:buNone/>
            </a:pP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marL="0" indent="0">
              <a:buNone/>
            </a:pPr>
            <a:endParaRPr lang="en-US" altLang="ja-JP" sz="1800" dirty="0"/>
          </a:p>
          <a:p>
            <a:pPr marL="0" indent="0">
              <a:buNone/>
            </a:pPr>
            <a:r>
              <a:rPr kumimoji="1" lang="ja-JP" altLang="en-US" sz="180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以下のように書き換えて、</a:t>
            </a: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marL="0" indent="0">
              <a:buNone/>
            </a:pPr>
            <a:endParaRPr lang="en-US" altLang="ja-JP" sz="1800" dirty="0"/>
          </a:p>
          <a:p>
            <a:pPr marL="0" indent="0">
              <a:buNone/>
            </a:pP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marL="0" indent="0">
              <a:buNone/>
            </a:pPr>
            <a:endParaRPr lang="en-US" altLang="ja-JP" sz="1800" dirty="0"/>
          </a:p>
          <a:p>
            <a:pPr marL="0" indent="0">
              <a:buNone/>
            </a:pP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marL="0" indent="0">
              <a:buNone/>
            </a:pPr>
            <a:endParaRPr lang="en-US" altLang="ja-JP" sz="1800" dirty="0"/>
          </a:p>
          <a:p>
            <a:pPr marL="0" indent="0">
              <a:buNone/>
            </a:pPr>
            <a:r>
              <a:rPr lang="ja-JP" altLang="en-US" sz="1800"/>
              <a:t>系と共に動く観測者から観測すると、　　　　　となるので</a:t>
            </a:r>
            <a:endParaRPr lang="en-US" altLang="ja-JP" sz="1800" dirty="0"/>
          </a:p>
          <a:p>
            <a:pPr marL="0" indent="0">
              <a:buNone/>
            </a:pPr>
            <a:r>
              <a:rPr lang="ja-JP" altLang="en-US" sz="1800"/>
              <a:t>少し計算して、極座標表示に変換すると、ラグラジアンは</a:t>
            </a:r>
            <a:endParaRPr lang="en-US" altLang="ja-JP" sz="1800" dirty="0"/>
          </a:p>
          <a:p>
            <a:pPr marL="0" indent="0">
              <a:buNone/>
            </a:pP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DB021-2FD2-D67B-F9A5-C000EBE0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898B089F-9F24-1AE4-4F77-6A731B5E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ニュートン力学を用いた</a:t>
            </a:r>
            <a:r>
              <a:rPr lang="en-US" altLang="ja-JP"/>
              <a:t>2</a:t>
            </a:r>
            <a:r>
              <a:rPr lang="ja-JP" altLang="en-US"/>
              <a:t>体問題</a:t>
            </a:r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B27D711-7471-017F-A0D9-B74D72BFC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913" y="1829457"/>
            <a:ext cx="4994173" cy="81915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41DE418-711B-85A9-7E58-317E611F4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206" y="3085682"/>
            <a:ext cx="2119586" cy="1690187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99EE124-F9E5-F99A-83AA-6A83A913D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107" y="4775869"/>
            <a:ext cx="943685" cy="437075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9CFD8B54-FB6B-F6EC-0ED1-3F4985710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3559" y="5581873"/>
            <a:ext cx="3556880" cy="78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15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3549D-C0BB-FB83-4188-F1CA4300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9438"/>
          </a:xfrm>
        </p:spPr>
        <p:txBody>
          <a:bodyPr>
            <a:normAutofit/>
          </a:bodyPr>
          <a:lstStyle/>
          <a:p>
            <a:r>
              <a:rPr lang="ja-JP" altLang="en-US"/>
              <a:t>オイラーラグランジュ方程式</a:t>
            </a:r>
            <a:endParaRPr kumimoji="1" lang="ja-JP" altLang="en-US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1B691-85A7-B4C2-5EFB-79B01824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2382"/>
            <a:ext cx="7886700" cy="5100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180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今回考えたいのは、ブラックホール（非常に重い天体）の周りを回る天体の軌道を考えたかったので、</a:t>
            </a: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marL="0" indent="0">
              <a:buNone/>
            </a:pPr>
            <a:endParaRPr lang="en-US" altLang="ja-JP" sz="1800" dirty="0"/>
          </a:p>
          <a:p>
            <a:pPr marL="0" indent="0">
              <a:buNone/>
            </a:pPr>
            <a:endParaRPr lang="en-US" altLang="ja-JP" sz="1800" dirty="0"/>
          </a:p>
          <a:p>
            <a:pPr marL="0" indent="0">
              <a:buNone/>
            </a:pPr>
            <a:r>
              <a:rPr kumimoji="1" lang="ja-JP" altLang="en-US" sz="180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とおくと</a:t>
            </a:r>
            <a:r>
              <a:rPr lang="ja-JP" altLang="en-US" sz="1800"/>
              <a:t>　　　　　</a:t>
            </a:r>
            <a:r>
              <a:rPr lang="ja-JP" altLang="en-US" sz="1800" dirty="0"/>
              <a:t>　</a:t>
            </a:r>
            <a:r>
              <a:rPr lang="ja-JP" altLang="en-US" sz="1800"/>
              <a:t>となる。</a:t>
            </a: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marL="0" indent="0">
              <a:buNone/>
            </a:pPr>
            <a:endParaRPr kumimoji="1" lang="ja-JP" altLang="en-US" sz="180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DB021-2FD2-D67B-F9A5-C000EBE0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2D7374-C5D6-5D7D-29B2-B730470A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ニュートン力学を用いた</a:t>
            </a:r>
            <a:r>
              <a:rPr lang="en-US" altLang="ja-JP"/>
              <a:t>2</a:t>
            </a:r>
            <a:r>
              <a:rPr lang="ja-JP" altLang="en-US"/>
              <a:t>体問題</a:t>
            </a:r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F2CD11A-7EF0-1976-C05A-3867C6E04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754" y="1919670"/>
            <a:ext cx="1356491" cy="71054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873911E-3372-BB0F-4EA0-FAC9AD0B9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861" y="2645979"/>
            <a:ext cx="966810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749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3549D-C0BB-FB83-4188-F1CA4300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9438"/>
          </a:xfrm>
        </p:spPr>
        <p:txBody>
          <a:bodyPr>
            <a:normAutofit/>
          </a:bodyPr>
          <a:lstStyle/>
          <a:p>
            <a:r>
              <a:rPr lang="ja-JP" altLang="en-US"/>
              <a:t>オイラーラグランジュ方程式</a:t>
            </a:r>
            <a:endParaRPr kumimoji="1" lang="ja-JP" altLang="en-US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1B691-85A7-B4C2-5EFB-79B01824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2382"/>
            <a:ext cx="7886700" cy="5100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180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今回考えたいのは、ブラックホール（非常に重い天体）の周りを回る天体の軌道を考えたかったので、</a:t>
            </a: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marL="0" indent="0">
              <a:buNone/>
            </a:pPr>
            <a:endParaRPr lang="en-US" altLang="ja-JP" sz="1800" dirty="0"/>
          </a:p>
          <a:p>
            <a:pPr marL="0" indent="0">
              <a:buNone/>
            </a:pPr>
            <a:endParaRPr lang="en-US" altLang="ja-JP" sz="1800" dirty="0"/>
          </a:p>
          <a:p>
            <a:pPr marL="0" indent="0">
              <a:buNone/>
            </a:pPr>
            <a:r>
              <a:rPr kumimoji="1" lang="ja-JP" altLang="en-US" sz="180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とおくと</a:t>
            </a:r>
            <a:r>
              <a:rPr lang="ja-JP" altLang="en-US" sz="1800"/>
              <a:t>　　　　　</a:t>
            </a:r>
            <a:r>
              <a:rPr lang="ja-JP" altLang="en-US" sz="1800" dirty="0"/>
              <a:t>　</a:t>
            </a:r>
            <a:r>
              <a:rPr lang="ja-JP" altLang="en-US" sz="1800"/>
              <a:t>となる。</a:t>
            </a:r>
            <a:endParaRPr kumimoji="1" lang="en-US" altLang="ja-JP" sz="1800" dirty="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  <a:p>
            <a:pPr marL="0" indent="0">
              <a:buNone/>
            </a:pPr>
            <a:endParaRPr kumimoji="1" lang="ja-JP" altLang="en-US" sz="180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DB021-2FD2-D67B-F9A5-C000EBE0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2D7374-C5D6-5D7D-29B2-B730470A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ニュートン力学を用いた</a:t>
            </a:r>
            <a:r>
              <a:rPr lang="en-US" altLang="ja-JP"/>
              <a:t>2</a:t>
            </a:r>
            <a:r>
              <a:rPr lang="ja-JP" altLang="en-US"/>
              <a:t>体問題</a:t>
            </a:r>
            <a:endParaRPr 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F2CD11A-7EF0-1976-C05A-3867C6E04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754" y="1919670"/>
            <a:ext cx="1356491" cy="71054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873911E-3372-BB0F-4EA0-FAC9AD0B9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861" y="2645979"/>
            <a:ext cx="966810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08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3549D-C0BB-FB83-4188-F1CA4300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9438"/>
          </a:xfrm>
        </p:spPr>
        <p:txBody>
          <a:bodyPr>
            <a:normAutofit/>
          </a:bodyPr>
          <a:lstStyle/>
          <a:p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エネルギー保存則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1B691-85A7-B4C2-5EFB-79B01824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2382"/>
            <a:ext cx="7886700" cy="510049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ja-JP" altLang="en-US" sz="1800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DB021-2FD2-D67B-F9A5-C000EBE0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2D7374-C5D6-5D7D-29B2-B730470A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ニュートン力学を用いた</a:t>
            </a:r>
            <a:r>
              <a:rPr lang="en-US" altLang="ja-JP"/>
              <a:t>2</a:t>
            </a:r>
            <a:r>
              <a:rPr lang="ja-JP" altLang="en-US"/>
              <a:t>体問題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02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464A9F-DC19-9CAD-C3FE-B4957F30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一般相対論を用いた</a:t>
            </a:r>
            <a:br>
              <a:rPr kumimoji="1" lang="en-US" altLang="ja-JP" dirty="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</a:br>
            <a:r>
              <a:rPr kumimoji="1" lang="en-US" altLang="ja-JP" dirty="0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2</a:t>
            </a:r>
            <a:r>
              <a:rPr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体</a:t>
            </a:r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問題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AAE497-2E95-EDBE-9C01-258962D48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6176D1-E40B-B146-37DA-D421B8D7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073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3549D-C0BB-FB83-4188-F1CA4300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9438"/>
          </a:xfrm>
        </p:spPr>
        <p:txBody>
          <a:bodyPr/>
          <a:lstStyle/>
          <a:p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一般相対論のイメージ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1B691-85A7-B4C2-5EFB-79B01824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2382"/>
            <a:ext cx="7886700" cy="5100491"/>
          </a:xfrm>
        </p:spPr>
        <p:txBody>
          <a:bodyPr/>
          <a:lstStyle/>
          <a:p>
            <a:endParaRPr kumimoji="1" lang="ja-JP" altLang="en-US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DB021-2FD2-D67B-F9A5-C000EBE0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76DEF6-C166-A31F-4C38-E0E2DD2A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一般相対論を用いた</a:t>
            </a:r>
            <a:r>
              <a:rPr lang="en-US" altLang="ja-JP"/>
              <a:t>2</a:t>
            </a:r>
            <a:r>
              <a:rPr lang="ja-JP" altLang="en-US"/>
              <a:t>体問題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20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3549D-C0BB-FB83-4188-F1CA4300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9438"/>
          </a:xfrm>
        </p:spPr>
        <p:txBody>
          <a:bodyPr/>
          <a:lstStyle/>
          <a:p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測地線方程式について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1B691-85A7-B4C2-5EFB-79B01824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2382"/>
            <a:ext cx="7886700" cy="5100491"/>
          </a:xfrm>
        </p:spPr>
        <p:txBody>
          <a:bodyPr/>
          <a:lstStyle/>
          <a:p>
            <a:endParaRPr kumimoji="1" lang="ja-JP" altLang="en-US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DB021-2FD2-D67B-F9A5-C000EBE0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76DEF6-C166-A31F-4C38-E0E2DD2A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一般相対論を用いた</a:t>
            </a:r>
            <a:r>
              <a:rPr lang="en-US" altLang="ja-JP"/>
              <a:t>2</a:t>
            </a:r>
            <a:r>
              <a:rPr lang="ja-JP" altLang="en-US"/>
              <a:t>体問題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812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3549D-C0BB-FB83-4188-F1CA4300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9438"/>
          </a:xfrm>
        </p:spPr>
        <p:txBody>
          <a:bodyPr/>
          <a:lstStyle/>
          <a:p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微分方程式の導出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1B691-85A7-B4C2-5EFB-79B01824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2382"/>
            <a:ext cx="7886700" cy="5100491"/>
          </a:xfrm>
        </p:spPr>
        <p:txBody>
          <a:bodyPr/>
          <a:lstStyle/>
          <a:p>
            <a:endParaRPr kumimoji="1" lang="ja-JP" altLang="en-US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DB021-2FD2-D67B-F9A5-C000EBE0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76DEF6-C166-A31F-4C38-E0E2DD2A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一般相対論を用いた</a:t>
            </a:r>
            <a:r>
              <a:rPr lang="en-US" altLang="ja-JP"/>
              <a:t>2</a:t>
            </a:r>
            <a:r>
              <a:rPr lang="ja-JP" altLang="en-US"/>
              <a:t>体問題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226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464A9F-DC19-9CAD-C3FE-B4957F307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解析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AAE497-2E95-EDBE-9C01-258962D48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6176D1-E40B-B146-37DA-D421B8D7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302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3549D-C0BB-FB83-4188-F1CA4300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9438"/>
          </a:xfrm>
        </p:spPr>
        <p:txBody>
          <a:bodyPr/>
          <a:lstStyle/>
          <a:p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有効ポテンシャルを用いた比較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1B691-85A7-B4C2-5EFB-79B01824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2382"/>
            <a:ext cx="7886700" cy="5100491"/>
          </a:xfrm>
        </p:spPr>
        <p:txBody>
          <a:bodyPr/>
          <a:lstStyle/>
          <a:p>
            <a:endParaRPr kumimoji="1" lang="ja-JP" altLang="en-US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DB021-2FD2-D67B-F9A5-C000EBE0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76DEF6-C166-A31F-4C38-E0E2DD2A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解析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965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3549D-C0BB-FB83-4188-F1CA4300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9438"/>
          </a:xfrm>
        </p:spPr>
        <p:txBody>
          <a:bodyPr/>
          <a:lstStyle/>
          <a:p>
            <a:r>
              <a:rPr kumimoji="1" lang="ja-JP" altLang="en-US">
                <a:latin typeface="Hiragino Kaku Gothic Std W8" panose="020B0800000000000000" pitchFamily="34" charset="-128"/>
                <a:ea typeface="Hiragino Kaku Gothic Std W8" panose="020B0800000000000000" pitchFamily="34" charset="-128"/>
              </a:rPr>
              <a:t>近日点移動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1B691-85A7-B4C2-5EFB-79B01824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2382"/>
            <a:ext cx="7886700" cy="5100491"/>
          </a:xfrm>
        </p:spPr>
        <p:txBody>
          <a:bodyPr/>
          <a:lstStyle/>
          <a:p>
            <a:endParaRPr kumimoji="1" lang="ja-JP" altLang="en-US">
              <a:latin typeface="Hiragino Kaku Gothic Std W8" panose="020B0800000000000000" pitchFamily="34" charset="-128"/>
              <a:ea typeface="Hiragino Kaku Gothic Std W8" panose="020B08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DB021-2FD2-D67B-F9A5-C000EBE0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76DEF6-C166-A31F-4C38-E0E2DD2A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解析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56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テーマ</Template>
  <TotalTime>1165</TotalTime>
  <Words>319</Words>
  <Application>Microsoft Macintosh PowerPoint</Application>
  <PresentationFormat>画面に合わせる (4:3)</PresentationFormat>
  <Paragraphs>91</Paragraphs>
  <Slides>15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Hiragino Kaku Gothic Std W8</vt:lpstr>
      <vt:lpstr>游ゴシック</vt:lpstr>
      <vt:lpstr>Aptos</vt:lpstr>
      <vt:lpstr>Aptos Display</vt:lpstr>
      <vt:lpstr>Arial</vt:lpstr>
      <vt:lpstr>Office テーマ</vt:lpstr>
      <vt:lpstr>シュバルツシルト時空における 光源の軌道予測 </vt:lpstr>
      <vt:lpstr>目次</vt:lpstr>
      <vt:lpstr>ニュートン力学を用いた 2体問題</vt:lpstr>
      <vt:lpstr>考えたい状況</vt:lpstr>
      <vt:lpstr>考えたい状況</vt:lpstr>
      <vt:lpstr>オイラーラグランジュ方程式</vt:lpstr>
      <vt:lpstr>オイラーラグランジュ方程式</vt:lpstr>
      <vt:lpstr>エネルギー保存則</vt:lpstr>
      <vt:lpstr>一般相対論を用いた 2体問題</vt:lpstr>
      <vt:lpstr>一般相対論のイメージ</vt:lpstr>
      <vt:lpstr>測地線方程式について</vt:lpstr>
      <vt:lpstr>微分方程式の導出</vt:lpstr>
      <vt:lpstr>解析</vt:lpstr>
      <vt:lpstr>有効ポテンシャルを用いた比較</vt:lpstr>
      <vt:lpstr>近日点移動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シュバルツシルト時空における 光源の軌道予測 </dc:title>
  <dc:creator>幹 大豆生田</dc:creator>
  <cp:lastModifiedBy>幹 大豆生田</cp:lastModifiedBy>
  <cp:revision>1</cp:revision>
  <dcterms:created xsi:type="dcterms:W3CDTF">2024-07-01T13:42:07Z</dcterms:created>
  <dcterms:modified xsi:type="dcterms:W3CDTF">2024-07-02T09:07:34Z</dcterms:modified>
</cp:coreProperties>
</file>